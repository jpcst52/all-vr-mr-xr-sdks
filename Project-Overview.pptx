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914400"/>
            <a:ext cx="3017520" cy="3017520"/>
          </a:xfrm>
          <a:prstGeom prst="ellipse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32520" y="1417320"/>
            <a:ext cx="2011680" cy="2011680"/>
          </a:xfrm>
          <a:prstGeom prst="ellipse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53728" y="1920240"/>
            <a:ext cx="960120" cy="960120"/>
          </a:xfrm>
          <a:prstGeom prst="ellipse">
            <a:avLst/>
          </a:prstGeom>
          <a:solidFill>
            <a:srgbClr val="6C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7406640" y="2148840"/>
            <a:ext cx="2834640" cy="2788920"/>
          </a:xfrm>
          <a:prstGeom prst="line">
            <a:avLst/>
          </a:prstGeom>
          <a:ln w="25400">
            <a:solidFill>
              <a:srgbClr val="A9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8229600" y="2926080"/>
            <a:ext cx="2468880" cy="2468880"/>
          </a:xfrm>
          <a:prstGeom prst="line">
            <a:avLst/>
          </a:prstGeom>
          <a:ln w="19050">
            <a:solidFill>
              <a:srgbClr val="FF9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315200" y="4754880"/>
            <a:ext cx="256032" cy="256032"/>
          </a:xfrm>
          <a:prstGeom prst="ellipse">
            <a:avLst/>
          </a:prstGeom>
          <a:solidFill>
            <a:srgbClr val="FF9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04120" y="1920240"/>
            <a:ext cx="219456" cy="219456"/>
          </a:xfrm>
          <a:prstGeom prst="ellipse">
            <a:avLst/>
          </a:prstGeom>
          <a:solidFill>
            <a:srgbClr val="A9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61320" y="2743200"/>
            <a:ext cx="201168" cy="201168"/>
          </a:xfrm>
          <a:prstGeom prst="ellipse">
            <a:avLst/>
          </a:prstGeom>
          <a:solidFill>
            <a:srgbClr val="FFD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640080"/>
            <a:ext cx="1115568" cy="73152"/>
          </a:xfrm>
          <a:prstGeom prst="rect">
            <a:avLst/>
          </a:prstGeom>
          <a:solidFill>
            <a:srgbClr val="6C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143000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6CE5D4"/>
                </a:solidFill>
                <a:latin typeface="Aptos"/>
              </a:defRPr>
            </a:pPr>
            <a:r>
              <a:t>PROJECT OVERVIEW  / 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874519"/>
            <a:ext cx="6492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3500" b="1">
                <a:solidFill>
                  <a:srgbClr val="F6F8FC"/>
                </a:solidFill>
                <a:latin typeface="Aptos"/>
              </a:defRPr>
            </a:pPr>
            <a:r>
              <a:t>VR · MR · AR</a:t>
            </a:r>
          </a:p>
          <a:p>
            <a:pPr algn="l">
              <a:spcAft>
                <a:spcPts val="400"/>
              </a:spcAft>
              <a:defRPr sz="3500" b="1">
                <a:solidFill>
                  <a:srgbClr val="F6F8FC"/>
                </a:solidFill>
                <a:latin typeface="Aptos"/>
              </a:defRPr>
            </a:pPr>
            <a:r>
              <a:t>SDK examples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767328"/>
            <a:ext cx="612648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900" b="0">
                <a:solidFill>
                  <a:srgbClr val="A7B3CB"/>
                </a:solidFill>
                <a:latin typeface="Aptos"/>
              </a:defRPr>
            </a:pPr>
            <a:r>
              <a:t>A practical tour of immersive technologies—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A7B3CB"/>
                </a:solidFill>
                <a:latin typeface="Aptos"/>
              </a:defRPr>
            </a:pPr>
            <a:r>
              <a:t>through small, focused, native examples.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9618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F6F8FC"/>
                </a:solidFill>
                <a:latin typeface="Aptos"/>
              </a:defRPr>
            </a:pPr>
            <a:r>
              <a:t>10 technologies  •  10 focused examples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A7B3CB"/>
                </a:solidFill>
                <a:latin typeface="Aptos"/>
              </a:defRPr>
            </a:pPr>
            <a:r>
              <a:t>Based on the repository README and SDK catalog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6CE5D4"/>
                </a:solidFill>
                <a:latin typeface="Aptos"/>
              </a:defRPr>
            </a:pPr>
            <a:r>
              <a:t>01 / PROJECT IN A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F6F8FC"/>
                </a:solidFill>
                <a:latin typeface="Aptos"/>
              </a:defRPr>
            </a:pPr>
            <a:r>
              <a:t>A learning gallery, not a single XR product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98448"/>
            <a:ext cx="11091672" cy="0"/>
          </a:xfrm>
          <a:prstGeom prst="line">
            <a:avLst/>
          </a:prstGeom>
          <a:ln w="12700">
            <a:solidFill>
              <a:srgbClr val="2C39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A7B3CB"/>
                </a:solidFill>
                <a:latin typeface="Aptos"/>
              </a:defRPr>
            </a:pPr>
            <a:r>
              <a:t>Source: README.md · SDK-list.md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7B3C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F6F8FC"/>
                </a:solidFill>
                <a:latin typeface="Aptos"/>
              </a:defRPr>
            </a:pPr>
            <a:r>
              <a:t>One repository. Separate examples.</a:t>
            </a:r>
          </a:p>
          <a:p>
            <a:pPr algn="l">
              <a:spcAft>
                <a:spcPts val="400"/>
              </a:spcAft>
              <a:defRPr sz="2300" b="1">
                <a:solidFill>
                  <a:srgbClr val="F6F8FC"/>
                </a:solidFill>
                <a:latin typeface="Aptos"/>
              </a:defRPr>
            </a:pPr>
            <a:r>
              <a:t>Each demonstrates a distinctive capability.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16352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A7B3CB"/>
                </a:solidFill>
                <a:latin typeface="Aptos"/>
              </a:defRPr>
            </a:pPr>
            <a:r>
              <a:t>The aim is to make the XR landscape tangible: compare standards, engines, and device SDKs by seeing what each is built to 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664208"/>
            <a:ext cx="5486400" cy="1133856"/>
          </a:xfrm>
          <a:prstGeom prst="roundRect">
            <a:avLst>
              <a:gd name="adj" fmla="val 12000"/>
            </a:avLst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199632" y="1911095"/>
            <a:ext cx="438912" cy="438912"/>
          </a:xfrm>
          <a:prstGeom prst="ellipse">
            <a:avLst/>
          </a:prstGeom>
          <a:solidFill>
            <a:srgbClr val="6C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2" y="1975104"/>
            <a:ext cx="4389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0B102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9712" y="1819656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F6F8FC"/>
                </a:solidFill>
                <a:latin typeface="Aptos"/>
              </a:defRPr>
            </a:pPr>
            <a:r>
              <a:t>Learn by doing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9712" y="2212848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A7B3CB"/>
                </a:solidFill>
                <a:latin typeface="Aptos"/>
              </a:defRPr>
            </a:pPr>
            <a:r>
              <a:t>Small, focused interactions instead of broad product demos.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072384"/>
            <a:ext cx="5486400" cy="1133856"/>
          </a:xfrm>
          <a:prstGeom prst="roundRect">
            <a:avLst>
              <a:gd name="adj" fmla="val 12000"/>
            </a:avLst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99632" y="3319272"/>
            <a:ext cx="438912" cy="438912"/>
          </a:xfrm>
          <a:prstGeom prst="ellipse">
            <a:avLst/>
          </a:prstGeom>
          <a:solidFill>
            <a:srgbClr val="A9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3383280"/>
            <a:ext cx="4389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0B102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9712" y="3227832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F6F8FC"/>
                </a:solidFill>
                <a:latin typeface="Aptos"/>
              </a:defRPr>
            </a:pPr>
            <a:r>
              <a:t>Use the real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3621024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A7B3CB"/>
                </a:solidFill>
                <a:latin typeface="Aptos"/>
              </a:defRPr>
            </a:pPr>
            <a:r>
              <a:t>Each sample uses its named SDK or framework directly.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4480560"/>
            <a:ext cx="5486400" cy="1133856"/>
          </a:xfrm>
          <a:prstGeom prst="roundRect">
            <a:avLst>
              <a:gd name="adj" fmla="val 12000"/>
            </a:avLst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99632" y="4727448"/>
            <a:ext cx="438912" cy="438912"/>
          </a:xfrm>
          <a:prstGeom prst="ellipse">
            <a:avLst/>
          </a:prstGeom>
          <a:solidFill>
            <a:srgbClr val="FF9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2" y="4791456"/>
            <a:ext cx="4389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0B102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4636008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F6F8FC"/>
                </a:solidFill>
                <a:latin typeface="Aptos"/>
              </a:defRPr>
            </a:pPr>
            <a:r>
              <a:t>Keep boundaries clear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9712" y="502920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A7B3CB"/>
                </a:solidFill>
                <a:latin typeface="Aptos"/>
              </a:defRPr>
            </a:pPr>
            <a:r>
              <a:t>Web demos are not presented as native vendor SDK integrations.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01091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6CE5D4"/>
                </a:solidFill>
                <a:latin typeface="Aptos"/>
              </a:defRPr>
            </a:pPr>
            <a:r>
              <a:t>DESIGN PRINCIPLE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358384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6F8FC"/>
                </a:solidFill>
                <a:latin typeface="Aptos"/>
              </a:defRPr>
            </a:pPr>
            <a:r>
              <a:t>A small, credible slice beats a broad claim.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6CE5D4"/>
                </a:solidFill>
                <a:latin typeface="Aptos"/>
              </a:defRPr>
            </a:pPr>
            <a:r>
              <a:t>02 / THE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F6F8FC"/>
                </a:solidFill>
                <a:latin typeface="Aptos"/>
              </a:defRPr>
            </a:pPr>
            <a:r>
              <a:t>Ten examples across four XR pathways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98448"/>
            <a:ext cx="11091672" cy="0"/>
          </a:xfrm>
          <a:prstGeom prst="line">
            <a:avLst/>
          </a:prstGeom>
          <a:ln w="12700">
            <a:solidFill>
              <a:srgbClr val="2C39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A7B3CB"/>
                </a:solidFill>
                <a:latin typeface="Aptos"/>
              </a:defRPr>
            </a:pPr>
            <a:r>
              <a:t>Source: SDK-list.md · each example folder README.md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7B3C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664208"/>
            <a:ext cx="2240280" cy="4251960"/>
          </a:xfrm>
          <a:prstGeom prst="roundRect">
            <a:avLst>
              <a:gd name="adj" fmla="val 12000"/>
            </a:avLst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664208"/>
            <a:ext cx="2240280" cy="64008"/>
          </a:xfrm>
          <a:prstGeom prst="rect">
            <a:avLst/>
          </a:prstGeom>
          <a:solidFill>
            <a:srgbClr val="6C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892807"/>
            <a:ext cx="18928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6CE5D4"/>
                </a:solidFill>
                <a:latin typeface="Aptos"/>
              </a:defRPr>
            </a:pPr>
            <a:r>
              <a:t>RUNTIMES &amp;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487168"/>
            <a:ext cx="1892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6F8FC"/>
                </a:solidFill>
                <a:latin typeface="Aptos"/>
              </a:defRPr>
            </a:pPr>
            <a:r>
              <a:t>OpenXR · 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825496"/>
            <a:ext cx="189280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7B3CB"/>
                </a:solidFill>
                <a:latin typeface="Aptos"/>
              </a:defRPr>
            </a:pPr>
            <a:r>
              <a:t>Instance lifecycle callback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310128"/>
            <a:ext cx="1892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6F8FC"/>
                </a:solidFill>
                <a:latin typeface="Aptos"/>
              </a:defRPr>
            </a:pPr>
            <a:r>
              <a:t>Meta XR · 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648456"/>
            <a:ext cx="189280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7B3CB"/>
                </a:solidFill>
                <a:latin typeface="Aptos"/>
              </a:defRPr>
            </a:pPr>
            <a:r>
              <a:t>Passthrough camera preview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4133088"/>
            <a:ext cx="1892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6F8FC"/>
                </a:solidFill>
                <a:latin typeface="Aptos"/>
              </a:defRPr>
            </a:pPr>
            <a:r>
              <a:t>SteamVR · 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471416"/>
            <a:ext cx="189280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7B3CB"/>
                </a:solidFill>
                <a:latin typeface="Aptos"/>
              </a:defRPr>
            </a:pPr>
            <a:r>
              <a:t>Action-driven color toggle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9584" y="1664208"/>
            <a:ext cx="2240280" cy="4251960"/>
          </a:xfrm>
          <a:prstGeom prst="roundRect">
            <a:avLst>
              <a:gd name="adj" fmla="val 12000"/>
            </a:avLst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29584" y="1664208"/>
            <a:ext cx="2240280" cy="64008"/>
          </a:xfrm>
          <a:prstGeom prst="rect">
            <a:avLst/>
          </a:prstGeom>
          <a:solidFill>
            <a:srgbClr val="A9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1892807"/>
            <a:ext cx="18928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A99BFF"/>
                </a:solidFill>
                <a:latin typeface="Aptos"/>
              </a:defRPr>
            </a:pPr>
            <a:r>
              <a:t>WEB 3D &amp; IMMERSION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487168"/>
            <a:ext cx="1892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6F8FC"/>
                </a:solidFill>
                <a:latin typeface="Aptos"/>
              </a:defRPr>
            </a:pPr>
            <a:r>
              <a:t>WebXR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2825496"/>
            <a:ext cx="189280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7B3CB"/>
                </a:solidFill>
                <a:latin typeface="Aptos"/>
              </a:defRPr>
            </a:pPr>
            <a:r>
              <a:t>Immersive color field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310128"/>
            <a:ext cx="1892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6F8FC"/>
                </a:solidFill>
                <a:latin typeface="Aptos"/>
              </a:defRPr>
            </a:pPr>
            <a:r>
              <a:t>A-Frame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3648456"/>
            <a:ext cx="189280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7B3CB"/>
                </a:solidFill>
                <a:latin typeface="Aptos"/>
              </a:defRPr>
            </a:pPr>
            <a:r>
              <a:t>Animated Orbit Garden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4133088"/>
            <a:ext cx="1892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6F8FC"/>
                </a:solidFill>
                <a:latin typeface="Aptos"/>
              </a:defRPr>
            </a:pPr>
            <a:r>
              <a:t>Three.js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4471416"/>
            <a:ext cx="189280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7B3CB"/>
                </a:solidFill>
                <a:latin typeface="Aptos"/>
              </a:defRPr>
            </a:pPr>
            <a:r>
              <a:t>Prism Bloom + VR entry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956048"/>
            <a:ext cx="1892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6F8FC"/>
                </a:solidFill>
                <a:latin typeface="Aptos"/>
              </a:defRPr>
            </a:pPr>
            <a:r>
              <a:t>Babylon.js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294376"/>
            <a:ext cx="189280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7B3CB"/>
                </a:solidFill>
                <a:latin typeface="Aptos"/>
              </a:defRPr>
            </a:pPr>
            <a:r>
              <a:t>Luminous Totem + XR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37376" y="1664208"/>
            <a:ext cx="2240280" cy="4251960"/>
          </a:xfrm>
          <a:prstGeom prst="roundRect">
            <a:avLst>
              <a:gd name="adj" fmla="val 12000"/>
            </a:avLst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37376" y="1664208"/>
            <a:ext cx="2240280" cy="64008"/>
          </a:xfrm>
          <a:prstGeom prst="rect">
            <a:avLst/>
          </a:prstGeom>
          <a:solidFill>
            <a:srgbClr val="FF9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1112" y="1892807"/>
            <a:ext cx="18928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FF9770"/>
                </a:solidFill>
                <a:latin typeface="Aptos"/>
              </a:defRPr>
            </a:pPr>
            <a:r>
              <a:t>MOBILE &amp; SPATIAL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1112" y="2487168"/>
            <a:ext cx="1892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6F8FC"/>
                </a:solidFill>
                <a:latin typeface="Aptos"/>
              </a:defRPr>
            </a:pPr>
            <a:r>
              <a:t>Google ARCore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1112" y="2825496"/>
            <a:ext cx="189280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7B3CB"/>
                </a:solidFill>
                <a:latin typeface="Aptos"/>
              </a:defRPr>
            </a:pPr>
            <a:r>
              <a:t>Plane detection + cube placement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1112" y="3310128"/>
            <a:ext cx="1892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6F8FC"/>
                </a:solidFill>
                <a:latin typeface="Aptos"/>
              </a:defRPr>
            </a:pPr>
            <a:r>
              <a:t>Apple · visionOS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11112" y="3648456"/>
            <a:ext cx="189280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7B3CB"/>
                </a:solidFill>
                <a:latin typeface="Aptos"/>
              </a:defRPr>
            </a:pPr>
            <a:r>
              <a:t>SwiftUI spatial atlas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45168" y="1664208"/>
            <a:ext cx="2240280" cy="4251960"/>
          </a:xfrm>
          <a:prstGeom prst="roundRect">
            <a:avLst>
              <a:gd name="adj" fmla="val 12000"/>
            </a:avLst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45168" y="1664208"/>
            <a:ext cx="2240280" cy="64008"/>
          </a:xfrm>
          <a:prstGeom prst="rect">
            <a:avLst/>
          </a:prstGeom>
          <a:solidFill>
            <a:srgbClr val="FFD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18904" y="1892807"/>
            <a:ext cx="18928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FFD27A"/>
                </a:solidFill>
                <a:latin typeface="Aptos"/>
              </a:defRPr>
            </a:pPr>
            <a:r>
              <a:t>ENGINE TOOLING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18904" y="2487168"/>
            <a:ext cx="1892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6F8FC"/>
                </a:solidFill>
                <a:latin typeface="Aptos"/>
              </a:defRPr>
            </a:pPr>
            <a:r>
              <a:t>Unity XRI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18904" y="2825496"/>
            <a:ext cx="189280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7B3CB"/>
                </a:solidFill>
                <a:latin typeface="Aptos"/>
              </a:defRPr>
            </a:pPr>
            <a:r>
              <a:t>Grab selection color feedback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09904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7B3CB"/>
                </a:solidFill>
                <a:latin typeface="Aptos"/>
              </a:defRPr>
            </a:pPr>
            <a:r>
              <a:t>These are starter-scale demonstrations, not a feature-complete comparison or unified runtime.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6CE5D4"/>
                </a:solidFill>
                <a:latin typeface="Aptos"/>
              </a:defRPr>
            </a:pPr>
            <a:r>
              <a:t>03 / BROWSER-BASED XR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F6F8FC"/>
                </a:solidFill>
                <a:latin typeface="Aptos"/>
              </a:defRPr>
            </a:pPr>
            <a:r>
              <a:t>The web lane: one API, three ways to build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98448"/>
            <a:ext cx="11091672" cy="0"/>
          </a:xfrm>
          <a:prstGeom prst="line">
            <a:avLst/>
          </a:prstGeom>
          <a:ln w="12700">
            <a:solidFill>
              <a:srgbClr val="2C39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A7B3CB"/>
                </a:solidFill>
                <a:latin typeface="Aptos"/>
              </a:defRPr>
            </a:pPr>
            <a:r>
              <a:t>Source: webxr/README.md · a-frame/README.md · threejs/README.md · babylonjs/README.md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7B3C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847088"/>
            <a:ext cx="2971800" cy="3566160"/>
          </a:xfrm>
          <a:prstGeom prst="roundRect">
            <a:avLst>
              <a:gd name="adj" fmla="val 12000"/>
            </a:avLst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39696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6CE5D4"/>
                </a:solidFill>
                <a:latin typeface="Aptos"/>
              </a:defRPr>
            </a:pPr>
            <a:r>
              <a:t>WebXR Device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70048"/>
            <a:ext cx="242316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F6F8FC"/>
                </a:solidFill>
                <a:latin typeface="Aptos"/>
              </a:defRPr>
            </a:pPr>
            <a:r>
              <a:t>Browser interface for requesting immersive sessions.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968496"/>
            <a:ext cx="242316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A7B3CB"/>
                </a:solidFill>
                <a:latin typeface="Aptos"/>
              </a:defRPr>
            </a:pPr>
            <a:r>
              <a:t>Support varies by browser, device, and runtime.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1104" y="1856231"/>
            <a:ext cx="3886200" cy="969264"/>
          </a:xfrm>
          <a:prstGeom prst="roundRect">
            <a:avLst>
              <a:gd name="adj" fmla="val 12000"/>
            </a:avLst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61104" y="1856231"/>
            <a:ext cx="73152" cy="969264"/>
          </a:xfrm>
          <a:prstGeom prst="rect">
            <a:avLst/>
          </a:prstGeom>
          <a:solidFill>
            <a:srgbClr val="A9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984248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A99BFF"/>
                </a:solidFill>
                <a:latin typeface="Aptos"/>
              </a:defRPr>
            </a:pPr>
            <a:r>
              <a:t>A-Frame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2002536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F6F8FC"/>
                </a:solidFill>
                <a:latin typeface="Aptos"/>
              </a:defRPr>
            </a:pPr>
            <a:r>
              <a:t>Declarative, HTML-like scene authoring.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1104" y="3054096"/>
            <a:ext cx="3886200" cy="969264"/>
          </a:xfrm>
          <a:prstGeom prst="roundRect">
            <a:avLst>
              <a:gd name="adj" fmla="val 12000"/>
            </a:avLst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61104" y="3054096"/>
            <a:ext cx="73152" cy="969264"/>
          </a:xfrm>
          <a:prstGeom prst="rect">
            <a:avLst/>
          </a:prstGeom>
          <a:solidFill>
            <a:srgbClr val="FF9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182112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9770"/>
                </a:solidFill>
                <a:latin typeface="Aptos"/>
              </a:defRPr>
            </a:pPr>
            <a:r>
              <a:t>Three.js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320040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F6F8FC"/>
                </a:solidFill>
                <a:latin typeface="Aptos"/>
              </a:defRPr>
            </a:pPr>
            <a:r>
              <a:t>Custom 3D scenes and WebXR rendering.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61104" y="4251960"/>
            <a:ext cx="3886200" cy="969264"/>
          </a:xfrm>
          <a:prstGeom prst="roundRect">
            <a:avLst>
              <a:gd name="adj" fmla="val 12000"/>
            </a:avLst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61104" y="4251960"/>
            <a:ext cx="73152" cy="969264"/>
          </a:xfrm>
          <a:prstGeom prst="rect">
            <a:avLst/>
          </a:prstGeom>
          <a:solidFill>
            <a:srgbClr val="FFD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4379976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D27A"/>
                </a:solidFill>
                <a:latin typeface="Aptos"/>
              </a:defRPr>
            </a:pPr>
            <a:r>
              <a:t>Babylon.js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4398264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F6F8FC"/>
                </a:solidFill>
                <a:latin typeface="Aptos"/>
              </a:defRPr>
            </a:pPr>
            <a:r>
              <a:t>Full-featured web 3D engine and XR UI.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75887" y="3611880"/>
            <a:ext cx="484633" cy="0"/>
          </a:xfrm>
          <a:prstGeom prst="line">
            <a:avLst/>
          </a:prstGeom>
          <a:ln w="25400">
            <a:solidFill>
              <a:srgbClr val="6CE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641080" y="1847088"/>
            <a:ext cx="2788920" cy="3566160"/>
          </a:xfrm>
          <a:prstGeom prst="roundRect">
            <a:avLst>
              <a:gd name="adj" fmla="val 12000"/>
            </a:avLst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42832" y="2157984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6F8FC"/>
                </a:solidFill>
                <a:latin typeface="Aptos"/>
              </a:defRPr>
            </a:pPr>
            <a:r>
              <a:t>What users can 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2706624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6CE5D4"/>
                </a:solidFill>
                <a:latin typeface="Aptos"/>
              </a:defRPr>
            </a:pPr>
            <a:r>
              <a:t>Desktop preview</a:t>
            </a:r>
          </a:p>
          <a:p>
            <a:pPr algn="l">
              <a:spcAft>
                <a:spcPts val="400"/>
              </a:spcAft>
              <a:defRPr sz="1700" b="1">
                <a:solidFill>
                  <a:srgbClr val="6CE5D4"/>
                </a:solidFill>
                <a:latin typeface="Aptos"/>
              </a:defRPr>
            </a:pPr>
            <a:r>
              <a:t>↓</a:t>
            </a:r>
          </a:p>
          <a:p>
            <a:pPr algn="l">
              <a:spcAft>
                <a:spcPts val="400"/>
              </a:spcAft>
              <a:defRPr sz="1700" b="1">
                <a:solidFill>
                  <a:srgbClr val="6CE5D4"/>
                </a:solidFill>
                <a:latin typeface="Aptos"/>
              </a:defRPr>
            </a:pPr>
            <a:r>
              <a:t>Immersive session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2832" y="4279392"/>
            <a:ext cx="2148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A7B3CB"/>
                </a:solidFill>
                <a:latin typeface="Aptos"/>
              </a:defRPr>
            </a:pPr>
            <a:r>
              <a:t>Secure context required: localhost or HTTPS.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064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6F8FC"/>
                </a:solidFill>
                <a:latin typeface="Aptos"/>
              </a:defRPr>
            </a:pPr>
            <a:r>
              <a:t>The WebXR API is the session doorway; A-Frame, Three.js, and Babylon.js are scene-building choices.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6CE5D4"/>
                </a:solidFill>
                <a:latin typeface="Aptos"/>
              </a:defRPr>
            </a:pPr>
            <a:r>
              <a:t>04 / DEVICE SDKS + 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F6F8FC"/>
                </a:solidFill>
                <a:latin typeface="Aptos"/>
              </a:defRPr>
            </a:pPr>
            <a:r>
              <a:t>Native and engine examples show distinct capabilities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98448"/>
            <a:ext cx="11091672" cy="0"/>
          </a:xfrm>
          <a:prstGeom prst="line">
            <a:avLst/>
          </a:prstGeom>
          <a:ln w="12700">
            <a:solidFill>
              <a:srgbClr val="2C39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A7B3CB"/>
                </a:solidFill>
                <a:latin typeface="Aptos"/>
              </a:defRPr>
            </a:pPr>
            <a:r>
              <a:t>Source: openxr/README.md · meta-xr/README.md · steamvr/README.md · unity-xri/README.md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7B3C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19072"/>
            <a:ext cx="10789920" cy="786384"/>
          </a:xfrm>
          <a:prstGeom prst="roundRect">
            <a:avLst>
              <a:gd name="adj" fmla="val 12000"/>
            </a:avLst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19072"/>
            <a:ext cx="82296" cy="786384"/>
          </a:xfrm>
          <a:prstGeom prst="rect">
            <a:avLst/>
          </a:prstGeom>
          <a:solidFill>
            <a:srgbClr val="6C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56231"/>
            <a:ext cx="14173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6CE5D4"/>
                </a:solidFill>
                <a:latin typeface="Aptos"/>
              </a:defRPr>
            </a:pPr>
            <a:r>
              <a:t>OpenXR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032" y="1865376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A7B3CB"/>
                </a:solidFill>
                <a:latin typeface="Aptos"/>
              </a:defRPr>
            </a:pPr>
            <a:r>
              <a:t>STANDARD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47088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F6F8FC"/>
                </a:solidFill>
                <a:latin typeface="Aptos"/>
              </a:defRPr>
            </a:pPr>
            <a:r>
              <a:t>Provider lifecycle callback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856231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7B3CB"/>
                </a:solidFill>
                <a:latin typeface="Aptos"/>
              </a:defRPr>
            </a:pPr>
            <a:r>
              <a:t>Compatible runtime + Unity OpenXR package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06624"/>
            <a:ext cx="10789920" cy="786384"/>
          </a:xfrm>
          <a:prstGeom prst="roundRect">
            <a:avLst>
              <a:gd name="adj" fmla="val 12000"/>
            </a:avLst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706624"/>
            <a:ext cx="82296" cy="786384"/>
          </a:xfrm>
          <a:prstGeom prst="rect">
            <a:avLst/>
          </a:prstGeom>
          <a:solidFill>
            <a:srgbClr val="A9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843784"/>
            <a:ext cx="14173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A99BFF"/>
                </a:solidFill>
                <a:latin typeface="Aptos"/>
              </a:defRPr>
            </a:pPr>
            <a:r>
              <a:t>Meta XR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2852928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A7B3CB"/>
                </a:solidFill>
                <a:latin typeface="Aptos"/>
              </a:defRPr>
            </a:pPr>
            <a:r>
              <a:t>DEVICE SDK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3464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F6F8FC"/>
                </a:solidFill>
                <a:latin typeface="Aptos"/>
              </a:defRPr>
            </a:pPr>
            <a:r>
              <a:t>Quest camera stream in a UI preview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843784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7B3CB"/>
                </a:solidFill>
                <a:latin typeface="Aptos"/>
              </a:defRPr>
            </a:pPr>
            <a:r>
              <a:t>Quest 3 / 3S + camera permission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694176"/>
            <a:ext cx="10789920" cy="786384"/>
          </a:xfrm>
          <a:prstGeom prst="roundRect">
            <a:avLst>
              <a:gd name="adj" fmla="val 12000"/>
            </a:avLst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694176"/>
            <a:ext cx="82296" cy="786384"/>
          </a:xfrm>
          <a:prstGeom prst="rect">
            <a:avLst/>
          </a:prstGeom>
          <a:solidFill>
            <a:srgbClr val="FF9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831336"/>
            <a:ext cx="14173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F9770"/>
                </a:solidFill>
                <a:latin typeface="Aptos"/>
              </a:defRPr>
            </a:pPr>
            <a:r>
              <a:t>SteamVR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32" y="3840480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A7B3CB"/>
                </a:solidFill>
                <a:latin typeface="Aptos"/>
              </a:defRPr>
            </a:pPr>
            <a:r>
              <a:t>RUNTIME + 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822191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F6F8FC"/>
                </a:solidFill>
                <a:latin typeface="Aptos"/>
              </a:defRPr>
            </a:pPr>
            <a:r>
              <a:t>Boolean action toggles object color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831336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7B3CB"/>
                </a:solidFill>
                <a:latin typeface="Aptos"/>
              </a:defRPr>
            </a:pPr>
            <a:r>
              <a:t>SteamVR plugin + configured binding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681728"/>
            <a:ext cx="10789920" cy="786384"/>
          </a:xfrm>
          <a:prstGeom prst="roundRect">
            <a:avLst>
              <a:gd name="adj" fmla="val 12000"/>
            </a:avLst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681728"/>
            <a:ext cx="82296" cy="786384"/>
          </a:xfrm>
          <a:prstGeom prst="rect">
            <a:avLst/>
          </a:prstGeom>
          <a:solidFill>
            <a:srgbClr val="FFD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818888"/>
            <a:ext cx="14173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FD27A"/>
                </a:solidFill>
                <a:latin typeface="Aptos"/>
              </a:defRPr>
            </a:pPr>
            <a:r>
              <a:t>Unity XRI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42032" y="4828032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A7B3CB"/>
                </a:solidFill>
                <a:latin typeface="Aptos"/>
              </a:defRPr>
            </a:pPr>
            <a:r>
              <a:t>INTERACTION TOOLKIT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809744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F6F8FC"/>
                </a:solidFill>
                <a:latin typeface="Aptos"/>
              </a:defRPr>
            </a:pPr>
            <a:r>
              <a:t>Grabbing an object changes its color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81888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7B3CB"/>
                </a:solidFill>
                <a:latin typeface="Aptos"/>
              </a:defRPr>
            </a:pPr>
            <a:r>
              <a:t>XRI packages + interaction setup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797296"/>
            <a:ext cx="105156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F6F8FC"/>
                </a:solidFill>
                <a:latin typeface="Aptos"/>
              </a:defRPr>
            </a:pPr>
            <a:r>
              <a:t>Key distinction: OpenXR is a cross-vendor API standard; Meta XR adds Quest-specific features; XRI supplies interaction components.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6CE5D4"/>
                </a:solidFill>
                <a:latin typeface="Aptos"/>
              </a:defRPr>
            </a:pPr>
            <a:r>
              <a:t>05 / MOBILE + SPATIAL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F6F8FC"/>
                </a:solidFill>
                <a:latin typeface="Aptos"/>
              </a:defRPr>
            </a:pPr>
            <a:r>
              <a:t>Mobile AR and spatial computing need different toolchains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98448"/>
            <a:ext cx="11091672" cy="0"/>
          </a:xfrm>
          <a:prstGeom prst="line">
            <a:avLst/>
          </a:prstGeom>
          <a:ln w="12700">
            <a:solidFill>
              <a:srgbClr val="2C39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A7B3CB"/>
                </a:solidFill>
                <a:latin typeface="Aptos"/>
              </a:defRPr>
            </a:pPr>
            <a:r>
              <a:t>Source: arcore-android/README.md · apple-spatial/README.md · SDK-list.md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7B3C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5257800" cy="4160520"/>
          </a:xfrm>
          <a:prstGeom prst="roundRect">
            <a:avLst>
              <a:gd name="adj" fmla="val 12000"/>
            </a:avLst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37360"/>
            <a:ext cx="5257800" cy="73152"/>
          </a:xfrm>
          <a:prstGeom prst="rect">
            <a:avLst/>
          </a:prstGeom>
          <a:solidFill>
            <a:srgbClr val="FF9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02996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F9770"/>
                </a:solidFill>
                <a:latin typeface="Aptos"/>
              </a:defRPr>
            </a:pPr>
            <a:r>
              <a:t>Google ARCore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578608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A7B3CB"/>
                </a:solidFill>
                <a:latin typeface="Aptos"/>
              </a:defRPr>
            </a:pPr>
            <a:r>
              <a:t>ANDROID  /  AUGMENTED REALITY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108960"/>
            <a:ext cx="443484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F6F8FC"/>
                </a:solidFill>
                <a:latin typeface="Aptos"/>
              </a:defRPr>
            </a:pPr>
            <a:r>
              <a:t>Scan a surface. Tap to place a cyan cube.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114800"/>
            <a:ext cx="43891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A7B3CB"/>
                </a:solidFill>
                <a:latin typeface="Aptos"/>
              </a:defRPr>
            </a:pPr>
            <a:r>
              <a:t>• Native Android app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7B3CB"/>
                </a:solidFill>
                <a:latin typeface="Aptos"/>
              </a:defRPr>
            </a:pPr>
            <a:r>
              <a:t>• Plane detection + camera hit-test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7B3CB"/>
                </a:solidFill>
                <a:latin typeface="Aptos"/>
              </a:defRPr>
            </a:pPr>
            <a:r>
              <a:t>• ARCore-supported phone or tablet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5257800" cy="4160520"/>
          </a:xfrm>
          <a:prstGeom prst="roundRect">
            <a:avLst>
              <a:gd name="adj" fmla="val 12000"/>
            </a:avLst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737360"/>
            <a:ext cx="5257800" cy="73152"/>
          </a:xfrm>
          <a:prstGeom prst="rect">
            <a:avLst/>
          </a:prstGeom>
          <a:solidFill>
            <a:srgbClr val="A9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202996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A99BFF"/>
                </a:solidFill>
                <a:latin typeface="Aptos"/>
              </a:defRPr>
            </a:pPr>
            <a:r>
              <a:t>Apple Spatial Atlas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2578608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A7B3CB"/>
                </a:solidFill>
                <a:latin typeface="Aptos"/>
              </a:defRPr>
            </a:pPr>
            <a:r>
              <a:t>VISIONOS  /  IMMERSIVE 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3108960"/>
            <a:ext cx="443484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F6F8FC"/>
                </a:solidFill>
                <a:latin typeface="Aptos"/>
              </a:defRPr>
            </a:pPr>
            <a:r>
              <a:t>Enter a world-anchored atlas of landmarks.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4114800"/>
            <a:ext cx="43891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A7B3CB"/>
                </a:solidFill>
                <a:latin typeface="Aptos"/>
              </a:defRPr>
            </a:pPr>
            <a:r>
              <a:t>• SwiftUI + RealityKit geometry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7B3CB"/>
                </a:solidFill>
                <a:latin typeface="Aptos"/>
              </a:defRPr>
            </a:pPr>
            <a:r>
              <a:t>• Xcode 16+ and visionOS 2 SDK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7B3CB"/>
                </a:solidFill>
                <a:latin typeface="Aptos"/>
              </a:defRPr>
            </a:pPr>
            <a:r>
              <a:t>• Build and test on macOS; Windows cannot build 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6CE5D4"/>
                </a:solidFill>
                <a:latin typeface="Aptos"/>
              </a:defRPr>
            </a:pPr>
            <a:r>
              <a:t>06 / GETTING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F6F8FC"/>
                </a:solidFill>
                <a:latin typeface="Aptos"/>
              </a:defRPr>
            </a:pPr>
            <a:r>
              <a:t>Start with the capability—and then check the environment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98448"/>
            <a:ext cx="11091672" cy="0"/>
          </a:xfrm>
          <a:prstGeom prst="line">
            <a:avLst/>
          </a:prstGeom>
          <a:ln w="12700">
            <a:solidFill>
              <a:srgbClr val="2C39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A7B3CB"/>
                </a:solidFill>
                <a:latin typeface="Aptos"/>
              </a:defRPr>
            </a:pPr>
            <a:r>
              <a:t>Source: root README.md · individual example README.md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7B3C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93392"/>
            <a:ext cx="2514600" cy="2971800"/>
          </a:xfrm>
          <a:prstGeom prst="roundRect">
            <a:avLst>
              <a:gd name="adj" fmla="val 12000"/>
            </a:avLst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2267712"/>
            <a:ext cx="457200" cy="457200"/>
          </a:xfrm>
          <a:prstGeom prst="ellipse">
            <a:avLst/>
          </a:prstGeom>
          <a:solidFill>
            <a:srgbClr val="6C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14016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0B102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9923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F6F8FC"/>
                </a:solidFill>
                <a:latin typeface="Aptos"/>
              </a:defRPr>
            </a:pPr>
            <a:r>
              <a:t>Choose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602736"/>
            <a:ext cx="2039112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A7B3CB"/>
                </a:solidFill>
                <a:latin typeface="Aptos"/>
              </a:defRPr>
            </a:pPr>
            <a:r>
              <a:t>Pick a target experience: browser, Unity headset, Android AR, or visionOS.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36976" y="3447288"/>
            <a:ext cx="256032" cy="0"/>
          </a:xfrm>
          <a:prstGeom prst="line">
            <a:avLst/>
          </a:prstGeom>
          <a:ln w="25400">
            <a:solidFill>
              <a:srgbClr val="2C39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66160" y="1993392"/>
            <a:ext cx="2514600" cy="2971800"/>
          </a:xfrm>
          <a:prstGeom prst="roundRect">
            <a:avLst>
              <a:gd name="adj" fmla="val 12000"/>
            </a:avLst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85616" y="2267712"/>
            <a:ext cx="457200" cy="457200"/>
          </a:xfrm>
          <a:prstGeom prst="ellipse">
            <a:avLst/>
          </a:prstGeom>
          <a:solidFill>
            <a:srgbClr val="A9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5616" y="2414016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0B102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5616" y="299923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F6F8FC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5616" y="3602736"/>
            <a:ext cx="2039112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A7B3CB"/>
                </a:solidFill>
                <a:latin typeface="Aptos"/>
              </a:defRPr>
            </a:pPr>
            <a:r>
              <a:t>Read that folder’s prerequisites, SDK versions, hardware, and account needs.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9904" y="3447288"/>
            <a:ext cx="256032" cy="0"/>
          </a:xfrm>
          <a:prstGeom prst="line">
            <a:avLst/>
          </a:prstGeom>
          <a:ln w="25400">
            <a:solidFill>
              <a:srgbClr val="2C39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19088" y="1993392"/>
            <a:ext cx="2514600" cy="2971800"/>
          </a:xfrm>
          <a:prstGeom prst="roundRect">
            <a:avLst>
              <a:gd name="adj" fmla="val 12000"/>
            </a:avLst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38544" y="2267712"/>
            <a:ext cx="457200" cy="457200"/>
          </a:xfrm>
          <a:prstGeom prst="ellipse">
            <a:avLst/>
          </a:prstGeom>
          <a:solidFill>
            <a:srgbClr val="FF9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38544" y="2414016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0B102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544" y="299923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F6F8FC"/>
                </a:solidFill>
                <a:latin typeface="Aptos"/>
              </a:defRPr>
            </a:pPr>
            <a:r>
              <a:t>Set 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544" y="3602736"/>
            <a:ext cx="2039112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A7B3CB"/>
                </a:solidFill>
                <a:latin typeface="Aptos"/>
              </a:defRPr>
            </a:pPr>
            <a:r>
              <a:t>Use the platform-native toolchain; Unity folders are source to copy into a compatible project.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42832" y="3447288"/>
            <a:ext cx="256032" cy="0"/>
          </a:xfrm>
          <a:prstGeom prst="line">
            <a:avLst/>
          </a:prstGeom>
          <a:ln w="25400">
            <a:solidFill>
              <a:srgbClr val="2C39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272015" y="1993392"/>
            <a:ext cx="2514600" cy="2971800"/>
          </a:xfrm>
          <a:prstGeom prst="roundRect">
            <a:avLst>
              <a:gd name="adj" fmla="val 12000"/>
            </a:avLst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1472" y="2267712"/>
            <a:ext cx="457200" cy="457200"/>
          </a:xfrm>
          <a:prstGeom prst="ellipse">
            <a:avLst/>
          </a:prstGeom>
          <a:solidFill>
            <a:srgbClr val="FFD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91472" y="2414016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0B102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91472" y="299923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F6F8FC"/>
                </a:solidFill>
                <a:latin typeface="Aptos"/>
              </a:defRPr>
            </a:pPr>
            <a:r>
              <a:t>Run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91472" y="3602736"/>
            <a:ext cx="2039112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A7B3CB"/>
                </a:solidFill>
                <a:latin typeface="Aptos"/>
              </a:defRPr>
            </a:pPr>
            <a:r>
              <a:t>Use the folder’s launch/setup instructions and verify the capability on supported hardware.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330952"/>
            <a:ext cx="10881360" cy="658368"/>
          </a:xfrm>
          <a:prstGeom prst="roundRect">
            <a:avLst>
              <a:gd name="adj" fmla="val 12000"/>
            </a:avLst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5504688"/>
            <a:ext cx="102870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6F8FC"/>
                </a:solidFill>
                <a:latin typeface="Aptos"/>
              </a:defRPr>
            </a:pPr>
            <a:r>
              <a:t>Before committing to a platform: verify current device support, vendor terms, and distribution requirements.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6CE5D4"/>
                </a:solidFill>
                <a:latin typeface="Aptos"/>
              </a:defRPr>
            </a:pPr>
            <a:r>
              <a:t>07 / WHAT TO KEEP IN MIND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F6F8FC"/>
                </a:solidFill>
                <a:latin typeface="Aptos"/>
              </a:defRPr>
            </a:pPr>
            <a:r>
              <a:t>Reality check: compatibility, access, and project scope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98448"/>
            <a:ext cx="11091672" cy="0"/>
          </a:xfrm>
          <a:prstGeom prst="line">
            <a:avLst/>
          </a:prstGeom>
          <a:ln w="12700">
            <a:solidFill>
              <a:srgbClr val="2C39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A7B3CB"/>
                </a:solidFill>
                <a:latin typeface="Aptos"/>
              </a:defRPr>
            </a:pPr>
            <a:r>
              <a:t>Source: SDK-list.md · example README.md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7B3C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5138928" cy="1298448"/>
          </a:xfrm>
          <a:prstGeom prst="roundRect">
            <a:avLst>
              <a:gd name="adj" fmla="val 12000"/>
            </a:avLst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65960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6CE5D4"/>
                </a:solidFill>
                <a:latin typeface="Aptos"/>
              </a:defRPr>
            </a:pPr>
            <a:r>
              <a:t>DEVICE + 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50008"/>
            <a:ext cx="4599432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F6F8FC"/>
                </a:solidFill>
                <a:latin typeface="Aptos"/>
              </a:defRPr>
            </a:pPr>
            <a:r>
              <a:t>XR features depend on compatible hardware, runtimes, OS, and browser versions.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783080"/>
            <a:ext cx="5138928" cy="1298448"/>
          </a:xfrm>
          <a:prstGeom prst="roundRect">
            <a:avLst>
              <a:gd name="adj" fmla="val 12000"/>
            </a:avLst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965960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A99BFF"/>
                </a:solidFill>
                <a:latin typeface="Aptos"/>
              </a:defRPr>
            </a:pPr>
            <a:r>
              <a:t>SECURE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2350008"/>
            <a:ext cx="4599432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F6F8FC"/>
                </a:solidFill>
                <a:latin typeface="Aptos"/>
              </a:defRPr>
            </a:pPr>
            <a:r>
              <a:t>WebXR immersive sessions need HTTPS or localhost; local previews may still work without XR.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392424"/>
            <a:ext cx="5138928" cy="1298448"/>
          </a:xfrm>
          <a:prstGeom prst="roundRect">
            <a:avLst>
              <a:gd name="adj" fmla="val 12000"/>
            </a:avLst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575304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FF9770"/>
                </a:solidFill>
                <a:latin typeface="Aptos"/>
              </a:defRPr>
            </a:pPr>
            <a:r>
              <a:t>BUILD ENVIRONMENT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959352"/>
            <a:ext cx="4599432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F6F8FC"/>
                </a:solidFill>
                <a:latin typeface="Aptos"/>
              </a:defRPr>
            </a:pPr>
            <a:r>
              <a:t>Android needs Android tooling/device support; Apple builds require macOS + Xcode.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3392424"/>
            <a:ext cx="5138928" cy="1298448"/>
          </a:xfrm>
          <a:prstGeom prst="roundRect">
            <a:avLst>
              <a:gd name="adj" fmla="val 12000"/>
            </a:avLst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3575304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FFD27A"/>
                </a:solidFill>
                <a:latin typeface="Aptos"/>
              </a:defRPr>
            </a:pPr>
            <a:r>
              <a:t>ACCOUNT + TERMS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3959352"/>
            <a:ext cx="4599432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F6F8FC"/>
                </a:solidFill>
                <a:latin typeface="Aptos"/>
              </a:defRPr>
            </a:pPr>
            <a:r>
              <a:t>Meta developer setup, Unity licensing, Steam publishing, or Apple distribution can add requirements.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21808"/>
            <a:ext cx="10744200" cy="594360"/>
          </a:xfrm>
          <a:prstGeom prst="roundRect">
            <a:avLst>
              <a:gd name="adj" fmla="val 12000"/>
            </a:avLst>
          </a:prstGeom>
          <a:solidFill>
            <a:srgbClr val="10172A"/>
          </a:solidFill>
          <a:ln w="12700">
            <a:solidFill>
              <a:srgbClr val="2C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486400"/>
            <a:ext cx="1028700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A7B3CB"/>
                </a:solidFill>
                <a:latin typeface="Aptos"/>
              </a:defRPr>
            </a:pPr>
            <a:r>
              <a:t>This repository is a collection of small examples—not one cross-platform app or an exhaustive SDK benchmark.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1206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6CE5D4"/>
                </a:solidFill>
                <a:latin typeface="Aptos"/>
              </a:defRPr>
            </a:pPr>
            <a:r>
              <a:t>THE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52144"/>
            <a:ext cx="8778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3100" b="1">
                <a:solidFill>
                  <a:srgbClr val="F6F8FC"/>
                </a:solidFill>
                <a:latin typeface="Aptos"/>
              </a:defRPr>
            </a:pPr>
            <a:r>
              <a:t>A map of XR, best explored</a:t>
            </a:r>
          </a:p>
          <a:p>
            <a:pPr algn="l">
              <a:spcAft>
                <a:spcPts val="400"/>
              </a:spcAft>
              <a:defRPr sz="3100" b="1">
                <a:solidFill>
                  <a:srgbClr val="F6F8FC"/>
                </a:solidFill>
                <a:latin typeface="Aptos"/>
              </a:defRPr>
            </a:pPr>
            <a:r>
              <a:t>one capability at a time.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2670048"/>
            <a:ext cx="10826496" cy="0"/>
          </a:xfrm>
          <a:prstGeom prst="line">
            <a:avLst/>
          </a:prstGeom>
          <a:ln w="12700">
            <a:solidFill>
              <a:srgbClr val="2C39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49808" y="3182112"/>
            <a:ext cx="594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6CE5D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694176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100" b="1">
                <a:solidFill>
                  <a:srgbClr val="F6F8FC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288536"/>
            <a:ext cx="29992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A7B3CB"/>
                </a:solidFill>
                <a:latin typeface="Aptos"/>
              </a:defRPr>
            </a:pPr>
            <a:r>
              <a:t>See how standards, engines, and device SDKs differ.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7408" y="3182112"/>
            <a:ext cx="594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A99B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3694176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100" b="1">
                <a:solidFill>
                  <a:srgbClr val="F6F8FC"/>
                </a:solidFill>
                <a:latin typeface="Aptos"/>
              </a:defRPr>
            </a:pPr>
            <a:r>
              <a:t>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4288536"/>
            <a:ext cx="29992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A7B3CB"/>
                </a:solidFill>
                <a:latin typeface="Aptos"/>
              </a:defRPr>
            </a:pPr>
            <a:r>
              <a:t>Run the smallest example that proves the interaction.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5008" y="3182112"/>
            <a:ext cx="594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FF977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8" y="3694176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100" b="1">
                <a:solidFill>
                  <a:srgbClr val="F6F8FC"/>
                </a:solidFill>
                <a:latin typeface="Aptos"/>
              </a:defRPr>
            </a:pPr>
            <a:r>
              <a:t>Expand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4288536"/>
            <a:ext cx="29992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A7B3CB"/>
                </a:solidFill>
                <a:latin typeface="Aptos"/>
              </a:defRPr>
            </a:pPr>
            <a:r>
              <a:t>Add platform-specific depth only when the use case needs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14416"/>
            <a:ext cx="10744200" cy="640080"/>
          </a:xfrm>
          <a:prstGeom prst="roundRect">
            <a:avLst>
              <a:gd name="adj" fmla="val 12000"/>
            </a:avLst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5788152"/>
            <a:ext cx="10259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6CE5D4"/>
                </a:solidFill>
                <a:latin typeface="Aptos"/>
              </a:defRPr>
            </a:pPr>
            <a:r>
              <a:t>Explore: README.md  •  SDK-list.md  •  each example folder’s 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